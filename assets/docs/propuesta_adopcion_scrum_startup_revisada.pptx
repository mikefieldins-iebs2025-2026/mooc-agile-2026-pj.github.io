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Scrum no se plantea como una moda metodológica, sino como una forma de trabajar para entregar mejor producto.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propuesta responde directamente a las cinco preguntas del documento, manteniendo una lógica práctica y aplicable.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adopción inicial debe ser pequeña, visible y medible. No se trata de transformar toda la organización de golpe, sino de aprender con una primera experiencia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propuesta introduce Scrum como un sistema práctico de entrega y aprendizaje. Empezamos con propósito, Product Goal, roles claros, Product Backlog y Definition of Done. Gestionamos la resistencia con escucha y experimentación. Protegemos la calidad como condición de avance. Evaluamos la automatización con impacto medible. Y reforzamos la colaboración remota con acuerdos, eventos útiles y transparencia.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B6A6"/>
          </a:solidFill>
          <a:ln w="12700">
            <a:solidFill>
              <a:srgbClr val="1FB6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6B3A"/>
          </a:solidFill>
          <a:ln w="12700">
            <a:solidFill>
              <a:srgbClr val="F26B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98448"/>
            <a:ext cx="4736592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623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Introducir Scrum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623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una startup tecnológica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13232" y="2816352"/>
            <a:ext cx="48920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161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propuesta práctica para mejorar entrega de valor, calidad, colaboración y adaptación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13232" y="3749040"/>
            <a:ext cx="960120" cy="73152"/>
          </a:xfrm>
          <a:prstGeom prst="rect">
            <a:avLst/>
          </a:prstGeom>
          <a:solidFill>
            <a:srgbClr val="F26B3A"/>
          </a:solidFill>
          <a:ln w="12700">
            <a:solidFill>
              <a:srgbClr val="F26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4023360"/>
            <a:ext cx="44805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62331"/>
                </a:solidFill>
              </a:rPr>
              <a:t>Scrum como sistema de trabajo para entregar mejor producto, no como moda metodológica.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932420" y="3419856"/>
            <a:ext cx="-1595628" cy="-2267712"/>
          </a:xfrm>
          <a:prstGeom prst="line">
            <a:avLst/>
          </a:prstGeom>
          <a:noFill/>
          <a:ln w="15875">
            <a:solidFill>
              <a:srgbClr val="F26B3A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7932420" y="3419856"/>
            <a:ext cx="2107692" cy="-2176272"/>
          </a:xfrm>
          <a:prstGeom prst="line">
            <a:avLst/>
          </a:prstGeom>
          <a:noFill/>
          <a:ln w="15875">
            <a:solidFill>
              <a:srgbClr val="1FB6A6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7932420" y="3419856"/>
            <a:ext cx="2327148" cy="1225296"/>
          </a:xfrm>
          <a:prstGeom prst="line">
            <a:avLst/>
          </a:prstGeom>
          <a:noFill/>
          <a:ln w="15875">
            <a:solidFill>
              <a:srgbClr val="36B37E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7932420" y="3419856"/>
            <a:ext cx="-1824228" cy="1207008"/>
          </a:xfrm>
          <a:prstGeom prst="line">
            <a:avLst/>
          </a:prstGeom>
          <a:noFill/>
          <a:ln w="15875">
            <a:solidFill>
              <a:srgbClr val="7B61FF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7932420" y="3419856"/>
            <a:ext cx="306324" cy="2688336"/>
          </a:xfrm>
          <a:prstGeom prst="line">
            <a:avLst/>
          </a:prstGeom>
          <a:noFill/>
          <a:ln w="15875">
            <a:solidFill>
              <a:srgbClr val="F5B84B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537960" y="1005840"/>
            <a:ext cx="2788920" cy="4828032"/>
          </a:xfrm>
          <a:prstGeom prst="roundRect">
            <a:avLst>
              <a:gd name="adj" fmla="val 8197"/>
            </a:avLst>
          </a:prstGeom>
          <a:solidFill>
            <a:srgbClr val="0E1B24"/>
          </a:solidFill>
          <a:ln w="20320">
            <a:solidFill>
              <a:srgbClr val="0B15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39128" y="1408176"/>
            <a:ext cx="2386584" cy="4059936"/>
          </a:xfrm>
          <a:prstGeom prst="roundRect">
            <a:avLst>
              <a:gd name="adj" fmla="val 5364"/>
            </a:avLst>
          </a:prstGeom>
          <a:solidFill>
            <a:srgbClr val="FAFBF8"/>
          </a:solidFill>
          <a:ln w="12700">
            <a:solidFill>
              <a:srgbClr val="FAFB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0" y="1947672"/>
            <a:ext cx="1783080" cy="502920"/>
          </a:xfrm>
          <a:prstGeom prst="roundRect">
            <a:avLst>
              <a:gd name="adj" fmla="val 14545"/>
            </a:avLst>
          </a:prstGeom>
          <a:solidFill>
            <a:srgbClr val="1FB6A6"/>
          </a:solidFill>
          <a:ln w="12700">
            <a:solidFill>
              <a:srgbClr val="1FB6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203911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 móvil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13448" y="2862072"/>
            <a:ext cx="1847088" cy="621792"/>
          </a:xfrm>
          <a:prstGeom prst="roundRect">
            <a:avLst/>
          </a:prstGeom>
          <a:solidFill>
            <a:srgbClr val="EAF5F2"/>
          </a:solidFill>
          <a:ln w="12700">
            <a:solidFill>
              <a:srgbClr val="9EE6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Backlog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priorizado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13448" y="3685032"/>
            <a:ext cx="1847088" cy="621792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FAD18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semanas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13448" y="4498848"/>
            <a:ext cx="1847088" cy="62179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9BE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Incremento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usable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35824" y="5376672"/>
            <a:ext cx="384048" cy="384048"/>
          </a:xfrm>
          <a:prstGeom prst="ellipse">
            <a:avLst/>
          </a:prstGeom>
          <a:solidFill>
            <a:srgbClr val="36B37E"/>
          </a:solidFill>
          <a:ln w="1524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24728" y="914400"/>
            <a:ext cx="475488" cy="475488"/>
          </a:xfrm>
          <a:prstGeom prst="ellipse">
            <a:avLst/>
          </a:prstGeom>
          <a:solidFill>
            <a:srgbClr val="F26B3A"/>
          </a:solidFill>
          <a:ln w="1524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96128" y="143560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331"/>
                </a:solidFill>
              </a:rPr>
              <a:t>Valor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528048" y="1005840"/>
            <a:ext cx="475488" cy="475488"/>
          </a:xfrm>
          <a:prstGeom prst="ellipse">
            <a:avLst/>
          </a:prstGeom>
          <a:solidFill>
            <a:srgbClr val="1FB6A6"/>
          </a:solidFill>
          <a:ln w="1524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99448" y="152704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331"/>
                </a:solidFill>
              </a:rPr>
              <a:t>Equipo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747504" y="4407408"/>
            <a:ext cx="475488" cy="475488"/>
          </a:xfrm>
          <a:prstGeom prst="ellipse">
            <a:avLst/>
          </a:prstGeom>
          <a:solidFill>
            <a:srgbClr val="36B37E"/>
          </a:solidFill>
          <a:ln w="1524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518904" y="492861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331"/>
                </a:solidFill>
              </a:rPr>
              <a:t>Calidad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96128" y="4389120"/>
            <a:ext cx="475488" cy="475488"/>
          </a:xfrm>
          <a:prstGeom prst="ellipse">
            <a:avLst/>
          </a:prstGeom>
          <a:solidFill>
            <a:srgbClr val="7B61FF"/>
          </a:solidFill>
          <a:ln w="1524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67528" y="49103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331"/>
                </a:solidFill>
              </a:rPr>
              <a:t>Automatización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726680" y="5870448"/>
            <a:ext cx="475488" cy="475488"/>
          </a:xfrm>
          <a:prstGeom prst="ellipse">
            <a:avLst/>
          </a:prstGeom>
          <a:solidFill>
            <a:srgbClr val="F5B84B"/>
          </a:solidFill>
          <a:ln w="15240">
            <a:solidFill>
              <a:srgbClr val="FFFFFF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98080" y="63916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331"/>
                </a:solidFill>
              </a:rPr>
              <a:t>Aprendizaje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13232" y="623620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7C84"/>
                </a:solidFill>
              </a:rPr>
              <a:t>Propuesta de adopción Scrum para equipo de producto digital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B6A6"/>
          </a:solidFill>
          <a:ln w="12700">
            <a:solidFill>
              <a:srgbClr val="1FB6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6B3A"/>
          </a:solidFill>
          <a:ln w="12700">
            <a:solidFill>
              <a:srgbClr val="F26B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11480"/>
            <a:ext cx="100126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23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Cinco preguntas, cinco decisiones de trabajo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3504" y="950976"/>
            <a:ext cx="8961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B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adopción de Scrum se articula alrededor de cinco necesidades prácticas del equipo.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1124712" y="2221992"/>
            <a:ext cx="9070848" cy="0"/>
          </a:xfrm>
          <a:prstGeom prst="line">
            <a:avLst/>
          </a:prstGeom>
          <a:noFill/>
          <a:ln w="33020">
            <a:solidFill>
              <a:srgbClr val="CAD4D7"/>
            </a:solidFill>
            <a:prstDash val="solid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777240" y="1938528"/>
            <a:ext cx="585216" cy="585216"/>
          </a:xfrm>
          <a:prstGeom prst="ellipse">
            <a:avLst/>
          </a:prstGeom>
          <a:solidFill>
            <a:srgbClr val="F26B3A"/>
          </a:solidFill>
          <a:ln w="15240">
            <a:solidFill>
              <a:srgbClr val="F7F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7784" y="263347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62331"/>
                </a:solidFill>
              </a:rPr>
              <a:t>Inicio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035808" y="1938528"/>
            <a:ext cx="585216" cy="585216"/>
          </a:xfrm>
          <a:prstGeom prst="ellipse">
            <a:avLst/>
          </a:prstGeom>
          <a:solidFill>
            <a:srgbClr val="1FB6A6"/>
          </a:solidFill>
          <a:ln w="15240">
            <a:solidFill>
              <a:srgbClr val="F7F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816352" y="263347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62331"/>
                </a:solidFill>
              </a:rPr>
              <a:t>Adopción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5294376" y="1938528"/>
            <a:ext cx="585216" cy="585216"/>
          </a:xfrm>
          <a:prstGeom prst="ellipse">
            <a:avLst/>
          </a:prstGeom>
          <a:solidFill>
            <a:srgbClr val="36B37E"/>
          </a:solidFill>
          <a:ln w="15240">
            <a:solidFill>
              <a:srgbClr val="F7F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74920" y="263347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62331"/>
                </a:solidFill>
              </a:rPr>
              <a:t>Calidad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552944" y="1938528"/>
            <a:ext cx="585216" cy="585216"/>
          </a:xfrm>
          <a:prstGeom prst="ellipse">
            <a:avLst/>
          </a:prstGeom>
          <a:solidFill>
            <a:srgbClr val="7B61FF"/>
          </a:solidFill>
          <a:ln w="15240">
            <a:solidFill>
              <a:srgbClr val="F7F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33488" y="263347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62331"/>
                </a:solidFill>
              </a:rPr>
              <a:t>Automatización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9811512" y="1938528"/>
            <a:ext cx="585216" cy="585216"/>
          </a:xfrm>
          <a:prstGeom prst="ellipse">
            <a:avLst/>
          </a:prstGeom>
          <a:solidFill>
            <a:srgbClr val="F5B84B"/>
          </a:solidFill>
          <a:ln w="15240">
            <a:solidFill>
              <a:srgbClr val="F7F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92056" y="263347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62331"/>
                </a:solidFill>
              </a:rPr>
              <a:t>Colaboración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731520" y="2962656"/>
            <a:ext cx="2377440" cy="329184"/>
          </a:xfrm>
          <a:prstGeom prst="roundRect">
            <a:avLst/>
          </a:prstGeom>
          <a:solidFill>
            <a:srgbClr val="0E1B24"/>
          </a:solidFill>
          <a:ln w="12700">
            <a:solidFill>
              <a:srgbClr val="0E1B2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del caso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55264" y="2962656"/>
            <a:ext cx="7909560" cy="329184"/>
          </a:xfrm>
          <a:prstGeom prst="roundRect">
            <a:avLst/>
          </a:prstGeom>
          <a:solidFill>
            <a:srgbClr val="0E1B24"/>
          </a:solidFill>
          <a:ln w="12700">
            <a:solidFill>
              <a:srgbClr val="0E1B2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propuesta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401568"/>
            <a:ext cx="2377440" cy="466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4D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introducir Scrum?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55264" y="3401568"/>
            <a:ext cx="7909560" cy="466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4D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Propósito, roles, backlog y calidad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31520" y="3977640"/>
            <a:ext cx="2377440" cy="466344"/>
          </a:xfrm>
          <a:prstGeom prst="roundRect">
            <a:avLst/>
          </a:prstGeom>
          <a:solidFill>
            <a:srgbClr val="F0F7F5"/>
          </a:solidFill>
          <a:ln w="12700">
            <a:solidFill>
              <a:srgbClr val="CAD4D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gestionar resistencias?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55264" y="3977640"/>
            <a:ext cx="7909560" cy="466344"/>
          </a:xfrm>
          <a:prstGeom prst="roundRect">
            <a:avLst/>
          </a:prstGeom>
          <a:solidFill>
            <a:srgbClr val="F0F7F5"/>
          </a:solidFill>
          <a:ln w="12700">
            <a:solidFill>
              <a:srgbClr val="CAD4D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Escuchar, formar y piloto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1520" y="4553712"/>
            <a:ext cx="2377440" cy="466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4D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hacer si baja la calidad?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55264" y="4553712"/>
            <a:ext cx="7909560" cy="466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4D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 of Done y prácticas técnicas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5129784"/>
            <a:ext cx="2377440" cy="466344"/>
          </a:xfrm>
          <a:prstGeom prst="roundRect">
            <a:avLst/>
          </a:prstGeom>
          <a:solidFill>
            <a:srgbClr val="F0F7F5"/>
          </a:solidFill>
          <a:ln w="12700">
            <a:solidFill>
              <a:srgbClr val="CAD4D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evaluar automatización?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255264" y="5129784"/>
            <a:ext cx="7909560" cy="466344"/>
          </a:xfrm>
          <a:prstGeom prst="roundRect">
            <a:avLst/>
          </a:prstGeom>
          <a:solidFill>
            <a:srgbClr val="F0F7F5"/>
          </a:solidFill>
          <a:ln w="12700">
            <a:solidFill>
              <a:srgbClr val="CAD4D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impacto antes de escalar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1520" y="5705856"/>
            <a:ext cx="2377440" cy="466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4D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colaborar en remoto?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55264" y="5705856"/>
            <a:ext cx="7909560" cy="466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4D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Herramientas, acuerdos y eventos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85216" y="649224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5828A"/>
                </a:solidFill>
              </a:rPr>
              <a:t>Propuesta de adopción Scrum para equipo de producto digital  ·  2/8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B6A6"/>
          </a:solidFill>
          <a:ln w="12700">
            <a:solidFill>
              <a:srgbClr val="1FB6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6B3A"/>
          </a:solidFill>
          <a:ln w="12700">
            <a:solidFill>
              <a:srgbClr val="F26B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11480"/>
            <a:ext cx="100126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23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Empezar por el propósito, no por las ceremonias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3504" y="950976"/>
            <a:ext cx="8961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B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objetivo no es “hacer Scrum”, sino mejorar valor, colaboración y adaptación.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58368" y="16184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1"/>
                </a:solidFill>
              </a:rPr>
              <a:t>Primeros pasos recomendados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4944" y="2011680"/>
            <a:ext cx="164592" cy="164592"/>
          </a:xfrm>
          <a:prstGeom prst="ellipse">
            <a:avLst/>
          </a:prstGeom>
          <a:solidFill>
            <a:srgbClr val="F26B3A"/>
          </a:solidFill>
          <a:ln w="15240">
            <a:solidFill>
              <a:srgbClr val="F7F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87552" y="1938528"/>
            <a:ext cx="45262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2331"/>
                </a:solidFill>
              </a:rPr>
              <a:t>Clarificar el propósito del cambio.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" y="2551176"/>
            <a:ext cx="164592" cy="164592"/>
          </a:xfrm>
          <a:prstGeom prst="ellipse">
            <a:avLst/>
          </a:prstGeom>
          <a:solidFill>
            <a:srgbClr val="1FB6A6"/>
          </a:solidFill>
          <a:ln w="15240">
            <a:solidFill>
              <a:srgbClr val="F7F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2478024"/>
            <a:ext cx="45262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2331"/>
                </a:solidFill>
              </a:rPr>
              <a:t>Definir un Product Goal inicial para la app móvil.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4944" y="3090672"/>
            <a:ext cx="164592" cy="164592"/>
          </a:xfrm>
          <a:prstGeom prst="ellipse">
            <a:avLst/>
          </a:prstGeom>
          <a:solidFill>
            <a:srgbClr val="36B37E"/>
          </a:solidFill>
          <a:ln w="15240">
            <a:solidFill>
              <a:srgbClr val="F7F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3017520"/>
            <a:ext cx="45262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2331"/>
                </a:solidFill>
              </a:rPr>
              <a:t>Aclarar responsabilidades: Product Owner, Scrum Master y Developers.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4944" y="3630168"/>
            <a:ext cx="164592" cy="164592"/>
          </a:xfrm>
          <a:prstGeom prst="ellipse">
            <a:avLst/>
          </a:prstGeom>
          <a:solidFill>
            <a:srgbClr val="7B61FF"/>
          </a:solidFill>
          <a:ln w="15240">
            <a:solidFill>
              <a:srgbClr val="F7F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87552" y="3557016"/>
            <a:ext cx="45262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2331"/>
                </a:solidFill>
              </a:rPr>
              <a:t>Construir un Product Backlog inicial ordenado por valor.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" y="4169664"/>
            <a:ext cx="164592" cy="164592"/>
          </a:xfrm>
          <a:prstGeom prst="ellipse">
            <a:avLst/>
          </a:prstGeom>
          <a:solidFill>
            <a:srgbClr val="F5B84B"/>
          </a:solidFill>
          <a:ln w="15240">
            <a:solidFill>
              <a:srgbClr val="F7F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4096512"/>
            <a:ext cx="45262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2331"/>
                </a:solidFill>
              </a:rPr>
              <a:t>Acordar Definition of Done, duración de Sprints y tablero visual sencillo.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80960" y="1554480"/>
            <a:ext cx="2103120" cy="493776"/>
          </a:xfrm>
          <a:prstGeom prst="roundRect">
            <a:avLst>
              <a:gd name="adj" fmla="val 9259"/>
            </a:avLst>
          </a:prstGeom>
          <a:solidFill>
            <a:srgbClr val="F26B3A"/>
          </a:solidFill>
          <a:ln w="12700">
            <a:solidFill>
              <a:srgbClr val="F26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62763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62331"/>
                </a:solidFill>
              </a:rPr>
              <a:t>Sprints con incrementos usables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360920" y="2240280"/>
            <a:ext cx="2743200" cy="493776"/>
          </a:xfrm>
          <a:prstGeom prst="roundRect">
            <a:avLst>
              <a:gd name="adj" fmla="val 9259"/>
            </a:avLst>
          </a:prstGeom>
          <a:solidFill>
            <a:srgbClr val="F5B84B"/>
          </a:solidFill>
          <a:ln w="12700">
            <a:solidFill>
              <a:srgbClr val="F5B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23134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62331"/>
                </a:solidFill>
              </a:rPr>
              <a:t>Product Backlog ordenado por valor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7040880" y="2926080"/>
            <a:ext cx="3383280" cy="493776"/>
          </a:xfrm>
          <a:prstGeom prst="roundRect">
            <a:avLst>
              <a:gd name="adj" fmla="val 9259"/>
            </a:avLst>
          </a:prstGeom>
          <a:solidFill>
            <a:srgbClr val="1FB6A6"/>
          </a:solidFill>
          <a:ln w="12700">
            <a:solidFill>
              <a:srgbClr val="1FB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29992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62331"/>
                </a:solidFill>
              </a:rPr>
              <a:t>Product Owner · Scrum Master · Developers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720840" y="3611880"/>
            <a:ext cx="4023360" cy="493776"/>
          </a:xfrm>
          <a:prstGeom prst="roundRect">
            <a:avLst>
              <a:gd name="adj" fmla="val 9259"/>
            </a:avLst>
          </a:prstGeom>
          <a:solidFill>
            <a:srgbClr val="36B37E"/>
          </a:solidFill>
          <a:ln w="12700">
            <a:solidFill>
              <a:srgbClr val="36B37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3685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62331"/>
                </a:solidFill>
              </a:rPr>
              <a:t>Product Goal inicial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400800" y="4297680"/>
            <a:ext cx="4663440" cy="493776"/>
          </a:xfrm>
          <a:prstGeom prst="roundRect">
            <a:avLst>
              <a:gd name="adj" fmla="val 9259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37083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Propósito del cambio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685800" y="5504688"/>
            <a:ext cx="10698480" cy="548640"/>
          </a:xfrm>
          <a:prstGeom prst="roundRect">
            <a:avLst/>
          </a:prstGeom>
          <a:solidFill>
            <a:srgbClr val="0E1B24"/>
          </a:solidFill>
          <a:ln>
            <a:solidFill>
              <a:srgbClr val="0E1B2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arrancar Sprints, el equipo necesita dirección clara, responsabilidades entendidas y una definición compartida de “hecho”.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5216" y="649224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5828A"/>
                </a:solidFill>
              </a:rPr>
              <a:t>Propuesta de adopción Scrum para equipo de producto digital  ·  3/8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B6A6"/>
          </a:solidFill>
          <a:ln w="12700">
            <a:solidFill>
              <a:srgbClr val="1FB6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6B3A"/>
          </a:solidFill>
          <a:ln w="12700">
            <a:solidFill>
              <a:srgbClr val="F26B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11480"/>
            <a:ext cx="100126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23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la intención al incremento usable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3504" y="950976"/>
            <a:ext cx="8961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B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Scrum convierte objetivos de producto en entregas pequeñas, inspeccionables y útiles.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2834640" y="2112264"/>
            <a:ext cx="1938528" cy="-374904"/>
          </a:xfrm>
          <a:prstGeom prst="line">
            <a:avLst/>
          </a:prstGeom>
          <a:noFill/>
          <a:ln w="22860">
            <a:solidFill>
              <a:srgbClr val="CAD4D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623560" y="1737360"/>
            <a:ext cx="1984248" cy="374904"/>
          </a:xfrm>
          <a:prstGeom prst="line">
            <a:avLst/>
          </a:prstGeom>
          <a:noFill/>
          <a:ln w="22860">
            <a:solidFill>
              <a:srgbClr val="CAD4D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458200" y="2112264"/>
            <a:ext cx="-548640" cy="2130552"/>
          </a:xfrm>
          <a:prstGeom prst="line">
            <a:avLst/>
          </a:prstGeom>
          <a:noFill/>
          <a:ln w="22860">
            <a:solidFill>
              <a:srgbClr val="CAD4D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759952" y="4242816"/>
            <a:ext cx="-3986784" cy="658368"/>
          </a:xfrm>
          <a:prstGeom prst="line">
            <a:avLst/>
          </a:prstGeom>
          <a:noFill/>
          <a:ln w="22860">
            <a:solidFill>
              <a:srgbClr val="CAD4D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623560" y="4901184"/>
            <a:ext cx="-3886200" cy="-658368"/>
          </a:xfrm>
          <a:prstGeom prst="line">
            <a:avLst/>
          </a:prstGeom>
          <a:noFill/>
          <a:ln w="22860">
            <a:solidFill>
              <a:srgbClr val="CAD4D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87752" y="4242816"/>
            <a:ext cx="-603504" cy="-2130552"/>
          </a:xfrm>
          <a:prstGeom prst="line">
            <a:avLst/>
          </a:prstGeom>
          <a:noFill/>
          <a:ln w="22860">
            <a:solidFill>
              <a:srgbClr val="CAD4D7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874520" y="1856232"/>
            <a:ext cx="1783080" cy="548640"/>
          </a:xfrm>
          <a:prstGeom prst="roundRect">
            <a:avLst/>
          </a:prstGeom>
          <a:solidFill>
            <a:srgbClr val="F26B3A"/>
          </a:solidFill>
          <a:ln w="12700">
            <a:solidFill>
              <a:srgbClr val="F26B3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Goal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1481328"/>
            <a:ext cx="1783080" cy="548640"/>
          </a:xfrm>
          <a:prstGeom prst="roundRect">
            <a:avLst/>
          </a:prstGeom>
          <a:solidFill>
            <a:srgbClr val="F5B84B"/>
          </a:solidFill>
          <a:ln w="12700">
            <a:solidFill>
              <a:srgbClr val="F5B84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Backlog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valor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0" y="1856232"/>
            <a:ext cx="1783080" cy="548640"/>
          </a:xfrm>
          <a:prstGeom prst="roundRect">
            <a:avLst/>
          </a:prstGeom>
          <a:solidFill>
            <a:srgbClr val="1FB6A6"/>
          </a:solidFill>
          <a:ln w="12700">
            <a:solidFill>
              <a:srgbClr val="1FB6A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Planning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99832" y="3986784"/>
            <a:ext cx="1783080" cy="548640"/>
          </a:xfrm>
          <a:prstGeom prst="roundRect">
            <a:avLst/>
          </a:prstGeom>
          <a:solidFill>
            <a:srgbClr val="7B61FF"/>
          </a:solidFill>
          <a:ln w="12700">
            <a:solidFill>
              <a:srgbClr val="7B61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Goal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4645152"/>
            <a:ext cx="1783080" cy="548640"/>
          </a:xfrm>
          <a:prstGeom prst="roundRect">
            <a:avLst/>
          </a:prstGeom>
          <a:solidFill>
            <a:srgbClr val="36B37E"/>
          </a:solidFill>
          <a:ln w="12700">
            <a:solidFill>
              <a:srgbClr val="36B37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Incremento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27632" y="3986784"/>
            <a:ext cx="1783080" cy="548640"/>
          </a:xfrm>
          <a:prstGeom prst="roundRect">
            <a:avLst/>
          </a:prstGeom>
          <a:solidFill>
            <a:srgbClr val="0E1B24"/>
          </a:solidFill>
          <a:ln w="12700">
            <a:solidFill>
              <a:srgbClr val="0E1B2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0" y="2743200"/>
            <a:ext cx="1627632" cy="16276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EE6D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una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 real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747504" y="1572768"/>
            <a:ext cx="1783080" cy="3547872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AD4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93808" y="178308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1"/>
                </a:solidFill>
              </a:rPr>
              <a:t>Primer piloto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62331"/>
                </a:solidFill>
              </a:rPr>
              <a:t>recomendado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948672" y="2542032"/>
            <a:ext cx="201168" cy="201168"/>
          </a:xfrm>
          <a:prstGeom prst="ellipse">
            <a:avLst/>
          </a:prstGeom>
          <a:solidFill>
            <a:srgbClr val="1FB6A6"/>
          </a:solidFill>
          <a:ln w="15240">
            <a:solidFill>
              <a:srgbClr val="1FB6A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0259568" y="248716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2331"/>
                </a:solidFill>
              </a:rPr>
              <a:t>Funcionalidad acotada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948672" y="2962656"/>
            <a:ext cx="201168" cy="201168"/>
          </a:xfrm>
          <a:prstGeom prst="ellipse">
            <a:avLst/>
          </a:prstGeom>
          <a:solidFill>
            <a:srgbClr val="1FB6A6"/>
          </a:solidFill>
          <a:ln w="15240">
            <a:solidFill>
              <a:srgbClr val="1FB6A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259568" y="2907792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2331"/>
                </a:solidFill>
              </a:rPr>
              <a:t>2–3 Sprints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948672" y="3383280"/>
            <a:ext cx="201168" cy="201168"/>
          </a:xfrm>
          <a:prstGeom prst="ellipse">
            <a:avLst/>
          </a:prstGeom>
          <a:solidFill>
            <a:srgbClr val="1FB6A6"/>
          </a:solidFill>
          <a:ln w="15240">
            <a:solidFill>
              <a:srgbClr val="1FB6A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0259568" y="3328416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2331"/>
                </a:solidFill>
              </a:rPr>
              <a:t>Métricas simples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948672" y="3803904"/>
            <a:ext cx="201168" cy="201168"/>
          </a:xfrm>
          <a:prstGeom prst="ellipse">
            <a:avLst/>
          </a:prstGeom>
          <a:solidFill>
            <a:srgbClr val="1FB6A6"/>
          </a:solidFill>
          <a:ln w="15240">
            <a:solidFill>
              <a:srgbClr val="1FB6A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0259568" y="3749040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2331"/>
                </a:solidFill>
              </a:rPr>
              <a:t>Retrospectiva cada Sprint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948672" y="4224528"/>
            <a:ext cx="201168" cy="201168"/>
          </a:xfrm>
          <a:prstGeom prst="ellipse">
            <a:avLst/>
          </a:prstGeom>
          <a:solidFill>
            <a:srgbClr val="1FB6A6"/>
          </a:solidFill>
          <a:ln w="15240">
            <a:solidFill>
              <a:srgbClr val="1FB6A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0259568" y="4169664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2331"/>
                </a:solidFill>
              </a:rPr>
              <a:t>Feedback temprano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85216" y="649224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5828A"/>
                </a:solidFill>
              </a:rPr>
              <a:t>Propuesta de adopción Scrum para equipo de producto digital  ·  4/8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B6A6"/>
          </a:solidFill>
          <a:ln w="12700">
            <a:solidFill>
              <a:srgbClr val="1FB6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6B3A"/>
          </a:solidFill>
          <a:ln w="12700">
            <a:solidFill>
              <a:srgbClr val="F26B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11480"/>
            <a:ext cx="100126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23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Gestionar la resistencia como información útil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3504" y="950976"/>
            <a:ext cx="8961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B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cambio funciona mejor cuando el equipo lo experimenta, no cuando se le impone.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2834640" y="2148840"/>
            <a:ext cx="2231136" cy="0"/>
          </a:xfrm>
          <a:prstGeom prst="line">
            <a:avLst/>
          </a:prstGeom>
          <a:noFill/>
          <a:ln w="22860">
            <a:solidFill>
              <a:srgbClr val="CAD4D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916168" y="2148840"/>
            <a:ext cx="-850392" cy="2743200"/>
          </a:xfrm>
          <a:prstGeom prst="line">
            <a:avLst/>
          </a:prstGeom>
          <a:noFill/>
          <a:ln w="22860">
            <a:solidFill>
              <a:srgbClr val="CAD4D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916168" y="4892040"/>
            <a:ext cx="-3931920" cy="0"/>
          </a:xfrm>
          <a:prstGeom prst="line">
            <a:avLst/>
          </a:prstGeom>
          <a:noFill/>
          <a:ln w="22860">
            <a:solidFill>
              <a:srgbClr val="CAD4D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34640" y="4892040"/>
            <a:ext cx="-850392" cy="-2743200"/>
          </a:xfrm>
          <a:prstGeom prst="line">
            <a:avLst/>
          </a:prstGeom>
          <a:noFill/>
          <a:ln w="22860">
            <a:solidFill>
              <a:srgbClr val="CAD4D7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874520" y="1874520"/>
            <a:ext cx="1417320" cy="566928"/>
          </a:xfrm>
          <a:prstGeom prst="roundRect">
            <a:avLst/>
          </a:prstGeom>
          <a:solidFill>
            <a:srgbClr val="F26B3A"/>
          </a:solidFill>
          <a:ln w="12700">
            <a:solidFill>
              <a:srgbClr val="F26B3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Escuchar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56048" y="1874520"/>
            <a:ext cx="1417320" cy="566928"/>
          </a:xfrm>
          <a:prstGeom prst="roundRect">
            <a:avLst/>
          </a:prstGeom>
          <a:solidFill>
            <a:srgbClr val="1FB6A6"/>
          </a:solidFill>
          <a:ln w="12700">
            <a:solidFill>
              <a:srgbClr val="1FB6A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4617720"/>
            <a:ext cx="1417320" cy="566928"/>
          </a:xfrm>
          <a:prstGeom prst="roundRect">
            <a:avLst/>
          </a:prstGeom>
          <a:solidFill>
            <a:srgbClr val="7B61FF"/>
          </a:solidFill>
          <a:ln w="12700">
            <a:solidFill>
              <a:srgbClr val="7B61F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Inspeccionar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74520" y="4617720"/>
            <a:ext cx="1417320" cy="566928"/>
          </a:xfrm>
          <a:prstGeom prst="roundRect">
            <a:avLst/>
          </a:prstGeom>
          <a:solidFill>
            <a:srgbClr val="36B37E"/>
          </a:solidFill>
          <a:ln w="12700">
            <a:solidFill>
              <a:srgbClr val="36B37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0" y="3072384"/>
            <a:ext cx="1005840" cy="1005840"/>
          </a:xfrm>
          <a:prstGeom prst="ellipse">
            <a:avLst/>
          </a:prstGeom>
          <a:solidFill>
            <a:srgbClr val="0E1B24"/>
          </a:solidFill>
          <a:ln w="15240">
            <a:solidFill>
              <a:srgbClr val="F7F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Adopción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gradual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1152" y="16733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1"/>
                </a:solidFill>
              </a:rPr>
              <a:t>Estrategia de adopción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31152" y="2084832"/>
            <a:ext cx="2148840" cy="384048"/>
          </a:xfrm>
          <a:prstGeom prst="roundRect">
            <a:avLst/>
          </a:prstGeom>
          <a:solidFill>
            <a:srgbClr val="EAF5F2"/>
          </a:solidFill>
          <a:ln w="12700">
            <a:solidFill>
              <a:srgbClr val="CAD4D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Escucha activa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9235440" y="2084832"/>
            <a:ext cx="2057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4D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dudas y expectativas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6931152" y="2615184"/>
            <a:ext cx="2148840" cy="384048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CAD4D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Formación práctica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9235440" y="2615184"/>
            <a:ext cx="2057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4D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 desde casos reales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6931152" y="3145536"/>
            <a:ext cx="2148840" cy="384048"/>
          </a:xfrm>
          <a:prstGeom prst="roundRect">
            <a:avLst/>
          </a:prstGeom>
          <a:solidFill>
            <a:srgbClr val="EAF5F2"/>
          </a:solidFill>
          <a:ln w="12700">
            <a:solidFill>
              <a:srgbClr val="CAD4D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Piloto de varios Sprints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9235440" y="3145536"/>
            <a:ext cx="2057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4D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Practicar en funcionalidad acotada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6931152" y="3675888"/>
            <a:ext cx="2148840" cy="384048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CAD4D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Retrospectivas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9235440" y="3675888"/>
            <a:ext cx="2057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4D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Inspeccionar y adaptar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6931152" y="4206240"/>
            <a:ext cx="2148840" cy="384048"/>
          </a:xfrm>
          <a:prstGeom prst="roundRect">
            <a:avLst/>
          </a:prstGeom>
          <a:solidFill>
            <a:srgbClr val="EAF5F2"/>
          </a:solidFill>
          <a:ln w="12700">
            <a:solidFill>
              <a:srgbClr val="CAD4D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Hackathones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9235440" y="4206240"/>
            <a:ext cx="20574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4D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Laboratorio seguro de aprendizaje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6931152" y="5166360"/>
            <a:ext cx="4370832" cy="658368"/>
          </a:xfrm>
          <a:prstGeom prst="roundRect">
            <a:avLst/>
          </a:prstGeom>
          <a:solidFill>
            <a:srgbClr val="0E1B24"/>
          </a:solidFill>
          <a:ln>
            <a:solidFill>
              <a:srgbClr val="0E1B2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hackathones pueden apoyar el aprendizaje, pero no sustituyen la práctica real de Scrum en el producto principal.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5216" y="649224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5828A"/>
                </a:solidFill>
              </a:rPr>
              <a:t>Propuesta de adopción Scrum para equipo de producto digital  ·  5/8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B6A6"/>
          </a:solidFill>
          <a:ln w="12700">
            <a:solidFill>
              <a:srgbClr val="1FB6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6B3A"/>
          </a:solidFill>
          <a:ln w="12700">
            <a:solidFill>
              <a:srgbClr val="F26B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11480"/>
            <a:ext cx="100126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23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Completar tareas no equivale a entregar calidad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3504" y="950976"/>
            <a:ext cx="8961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B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calidad baja, no estamos avanzando: estamos acumulando deuda.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4206240" cy="768096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FAD18C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 de alerta: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tareas se completan, pero el producto no alcanza la calidad esperada.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1"/>
                </a:solidFill>
              </a:rPr>
              <a:t>Respuesta propuesta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044952"/>
            <a:ext cx="182880" cy="182880"/>
          </a:xfrm>
          <a:prstGeom prst="ellipse">
            <a:avLst/>
          </a:prstGeom>
          <a:solidFill>
            <a:srgbClr val="36B37E"/>
          </a:solidFill>
          <a:ln w="15240">
            <a:solidFill>
              <a:srgbClr val="36B37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87552" y="299923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62331"/>
                </a:solidFill>
              </a:rPr>
              <a:t>Revisar Definition of Done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392424"/>
            <a:ext cx="182880" cy="182880"/>
          </a:xfrm>
          <a:prstGeom prst="ellipse">
            <a:avLst/>
          </a:prstGeom>
          <a:solidFill>
            <a:srgbClr val="36B37E"/>
          </a:solidFill>
          <a:ln w="15240">
            <a:solidFill>
              <a:srgbClr val="36B37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987552" y="334670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62331"/>
                </a:solidFill>
              </a:rPr>
              <a:t>Aclarar criterios de aceptación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739896"/>
            <a:ext cx="182880" cy="182880"/>
          </a:xfrm>
          <a:prstGeom prst="ellipse">
            <a:avLst/>
          </a:prstGeom>
          <a:solidFill>
            <a:srgbClr val="36B37E"/>
          </a:solidFill>
          <a:ln w="15240">
            <a:solidFill>
              <a:srgbClr val="36B37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987552" y="369417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62331"/>
                </a:solidFill>
              </a:rPr>
              <a:t>Mejorar prácticas de testing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087368"/>
            <a:ext cx="182880" cy="182880"/>
          </a:xfrm>
          <a:prstGeom prst="ellipse">
            <a:avLst/>
          </a:prstGeom>
          <a:solidFill>
            <a:srgbClr val="36B37E"/>
          </a:solidFill>
          <a:ln w="15240">
            <a:solidFill>
              <a:srgbClr val="36B37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987552" y="404164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62331"/>
                </a:solidFill>
              </a:rPr>
              <a:t>Revisar deuda técnica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434840"/>
            <a:ext cx="182880" cy="182880"/>
          </a:xfrm>
          <a:prstGeom prst="ellipse">
            <a:avLst/>
          </a:prstGeom>
          <a:solidFill>
            <a:srgbClr val="36B37E"/>
          </a:solidFill>
          <a:ln w="15240">
            <a:solidFill>
              <a:srgbClr val="36B37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987552" y="43891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62331"/>
                </a:solidFill>
              </a:rPr>
              <a:t>Analizar presión de alcance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782312"/>
            <a:ext cx="182880" cy="182880"/>
          </a:xfrm>
          <a:prstGeom prst="ellipse">
            <a:avLst/>
          </a:prstGeom>
          <a:solidFill>
            <a:srgbClr val="36B37E"/>
          </a:solidFill>
          <a:ln w="15240">
            <a:solidFill>
              <a:srgbClr val="36B37E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987552" y="473659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62331"/>
                </a:solidFill>
              </a:rPr>
              <a:t>Llevarlo a la Retrospective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30368" y="1691640"/>
            <a:ext cx="4297680" cy="338328"/>
          </a:xfrm>
          <a:prstGeom prst="roundRect">
            <a:avLst>
              <a:gd name="adj" fmla="val 10811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1760220"/>
            <a:ext cx="4151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Trabajo iniciado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68112" y="2167128"/>
            <a:ext cx="3822192" cy="338328"/>
          </a:xfrm>
          <a:prstGeom prst="roundRect">
            <a:avLst>
              <a:gd name="adj" fmla="val 10811"/>
            </a:avLst>
          </a:prstGeom>
          <a:solidFill>
            <a:srgbClr val="1FB6A6"/>
          </a:solidFill>
          <a:ln w="12700">
            <a:solidFill>
              <a:srgbClr val="1FB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41264" y="2235708"/>
            <a:ext cx="3675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331"/>
                </a:solidFill>
              </a:rPr>
              <a:t>Criterios de aceptación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56148" y="2642616"/>
            <a:ext cx="3246120" cy="338328"/>
          </a:xfrm>
          <a:prstGeom prst="roundRect">
            <a:avLst>
              <a:gd name="adj" fmla="val 10811"/>
            </a:avLst>
          </a:prstGeom>
          <a:solidFill>
            <a:srgbClr val="36B37E"/>
          </a:solidFill>
          <a:ln w="12700">
            <a:solidFill>
              <a:srgbClr val="36B3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29300" y="2711196"/>
            <a:ext cx="3099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331"/>
                </a:solidFill>
              </a:rPr>
              <a:t>Testing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07608" y="3118104"/>
            <a:ext cx="2743200" cy="338328"/>
          </a:xfrm>
          <a:prstGeom prst="roundRect">
            <a:avLst>
              <a:gd name="adj" fmla="val 10811"/>
            </a:avLst>
          </a:prstGeom>
          <a:solidFill>
            <a:srgbClr val="F5B84B"/>
          </a:solidFill>
          <a:ln w="12700">
            <a:solidFill>
              <a:srgbClr val="F5B8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3186684"/>
            <a:ext cx="2596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331"/>
                </a:solidFill>
              </a:rPr>
              <a:t>Code review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59068" y="3593592"/>
            <a:ext cx="2240280" cy="338328"/>
          </a:xfrm>
          <a:prstGeom prst="roundRect">
            <a:avLst>
              <a:gd name="adj" fmla="val 10811"/>
            </a:avLst>
          </a:prstGeom>
          <a:solidFill>
            <a:srgbClr val="F26B3A"/>
          </a:solidFill>
          <a:ln w="12700">
            <a:solidFill>
              <a:srgbClr val="F26B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2220" y="3662172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2331"/>
                </a:solidFill>
              </a:rPr>
              <a:t>Definition of Done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19672" y="4069080"/>
            <a:ext cx="1719072" cy="338328"/>
          </a:xfrm>
          <a:prstGeom prst="roundRect">
            <a:avLst>
              <a:gd name="adj" fmla="val 10811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92824" y="4137660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Incremento usable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738360" y="18470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331"/>
                </a:solidFill>
              </a:rPr>
              <a:t>Mejoras concretas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738360" y="2240280"/>
            <a:ext cx="1627632" cy="402336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CAD4D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automatizadas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9738360" y="2807208"/>
            <a:ext cx="1627632" cy="402336"/>
          </a:xfrm>
          <a:prstGeom prst="roundRect">
            <a:avLst/>
          </a:prstGeom>
          <a:solidFill>
            <a:srgbClr val="EAF5F2"/>
          </a:solidFill>
          <a:ln w="12700">
            <a:solidFill>
              <a:srgbClr val="CAD4D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de código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9738360" y="3374136"/>
            <a:ext cx="1627632" cy="402336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CAD4D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trabajo en curso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9738360" y="3941064"/>
            <a:ext cx="1627632" cy="402336"/>
          </a:xfrm>
          <a:prstGeom prst="roundRect">
            <a:avLst/>
          </a:prstGeom>
          <a:solidFill>
            <a:srgbClr val="EAF5F2"/>
          </a:solidFill>
          <a:ln w="12700">
            <a:solidFill>
              <a:srgbClr val="CAD4D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Refactorización planificada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685800" y="5715000"/>
            <a:ext cx="10652760" cy="475488"/>
          </a:xfrm>
          <a:prstGeom prst="roundRect">
            <a:avLst/>
          </a:prstGeom>
          <a:solidFill>
            <a:srgbClr val="0E1B24"/>
          </a:solidFill>
          <a:ln>
            <a:solidFill>
              <a:srgbClr val="0E1B2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calidad no se sacrifica para aparentar avance.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85216" y="649224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5828A"/>
                </a:solidFill>
              </a:rPr>
              <a:t>Propuesta de adopción Scrum para equipo de producto digital  ·  6/8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B6A6"/>
          </a:solidFill>
          <a:ln w="12700">
            <a:solidFill>
              <a:srgbClr val="1FB6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6B3A"/>
          </a:solidFill>
          <a:ln w="12700">
            <a:solidFill>
              <a:srgbClr val="F26B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11480"/>
            <a:ext cx="100126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23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Automatizar donde haya impacto medible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3504" y="950976"/>
            <a:ext cx="8961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B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automatización debe priorizarse por valor, calidad, tiempo ahorrado y reducción de errores.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13232" y="16642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1"/>
                </a:solidFill>
              </a:rPr>
              <a:t>Criterios de evaluación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057400"/>
            <a:ext cx="256032" cy="256032"/>
          </a:xfrm>
          <a:prstGeom prst="ellipse">
            <a:avLst/>
          </a:prstGeom>
          <a:solidFill>
            <a:srgbClr val="F26B3A"/>
          </a:solidFill>
          <a:ln w="15240">
            <a:solidFill>
              <a:srgbClr val="F7F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115568" y="202996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2331"/>
                </a:solidFill>
              </a:rPr>
              <a:t>Valor para el producto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450592"/>
            <a:ext cx="256032" cy="256032"/>
          </a:xfrm>
          <a:prstGeom prst="ellipse">
            <a:avLst/>
          </a:prstGeom>
          <a:solidFill>
            <a:srgbClr val="1FB6A6"/>
          </a:solidFill>
          <a:ln w="15240">
            <a:solidFill>
              <a:srgbClr val="F7F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15568" y="24231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2331"/>
                </a:solidFill>
              </a:rPr>
              <a:t>Mejora de calidad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843784"/>
            <a:ext cx="256032" cy="256032"/>
          </a:xfrm>
          <a:prstGeom prst="ellipse">
            <a:avLst/>
          </a:prstGeom>
          <a:solidFill>
            <a:srgbClr val="36B37E"/>
          </a:solidFill>
          <a:ln w="15240">
            <a:solidFill>
              <a:srgbClr val="F7F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115568" y="28163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2331"/>
                </a:solidFill>
              </a:rPr>
              <a:t>Tiempo ahorrado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9808" y="3236976"/>
            <a:ext cx="256032" cy="256032"/>
          </a:xfrm>
          <a:prstGeom prst="ellipse">
            <a:avLst/>
          </a:prstGeom>
          <a:solidFill>
            <a:srgbClr val="7B61FF"/>
          </a:solidFill>
          <a:ln w="15240">
            <a:solidFill>
              <a:srgbClr val="F7F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115568" y="32095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2331"/>
                </a:solidFill>
              </a:rPr>
              <a:t>Reducción de errores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630168"/>
            <a:ext cx="256032" cy="256032"/>
          </a:xfrm>
          <a:prstGeom prst="ellipse">
            <a:avLst/>
          </a:prstGeom>
          <a:solidFill>
            <a:srgbClr val="F5B84B"/>
          </a:solidFill>
          <a:ln w="15240">
            <a:solidFill>
              <a:srgbClr val="F7F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115568" y="36027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2331"/>
                </a:solidFill>
              </a:rPr>
              <a:t>Coste y complejidad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9808" y="4023360"/>
            <a:ext cx="256032" cy="256032"/>
          </a:xfrm>
          <a:prstGeom prst="ellipse">
            <a:avLst/>
          </a:prstGeom>
          <a:solidFill>
            <a:srgbClr val="0E1B24"/>
          </a:solidFill>
          <a:ln w="15240">
            <a:solidFill>
              <a:srgbClr val="F7F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15568" y="39959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62331"/>
                </a:solidFill>
              </a:rPr>
              <a:t>Riesgo de implementación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10912" y="3374136"/>
            <a:ext cx="5897880" cy="0"/>
          </a:xfrm>
          <a:prstGeom prst="line">
            <a:avLst/>
          </a:prstGeom>
          <a:noFill/>
          <a:ln w="17780">
            <a:solidFill>
              <a:srgbClr val="CAD4D7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959852" y="1691640"/>
            <a:ext cx="0" cy="3364992"/>
          </a:xfrm>
          <a:prstGeom prst="line">
            <a:avLst/>
          </a:prstGeom>
          <a:noFill/>
          <a:ln w="17780">
            <a:solidFill>
              <a:srgbClr val="CAD4D7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5449824" y="1344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1616F"/>
                </a:solidFill>
              </a:rPr>
              <a:t>Bajo esfuerzo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394192" y="1344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1616F"/>
                </a:solidFill>
              </a:rPr>
              <a:t>Alto esfuerzo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 rot="16200000">
            <a:off x="4370832" y="228600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51616F"/>
                </a:solidFill>
              </a:rPr>
              <a:t>Alto impacto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 rot="16200000">
            <a:off x="4370832" y="397764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51616F"/>
                </a:solidFill>
              </a:rPr>
              <a:t>Bajo impacto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5175504" y="1920240"/>
            <a:ext cx="2560320" cy="1143000"/>
          </a:xfrm>
          <a:prstGeom prst="roundRect">
            <a:avLst/>
          </a:prstGeom>
          <a:solidFill>
            <a:srgbClr val="36B37E"/>
          </a:solidFill>
          <a:ln w="12700">
            <a:solidFill>
              <a:srgbClr val="36B37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Hacer primero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65592" y="1920240"/>
            <a:ext cx="2560320" cy="1143000"/>
          </a:xfrm>
          <a:prstGeom prst="roundRect">
            <a:avLst/>
          </a:prstGeom>
          <a:solidFill>
            <a:srgbClr val="F5B84B"/>
          </a:solidFill>
          <a:ln w="12700">
            <a:solidFill>
              <a:srgbClr val="F5B84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Explorar con cuidado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75504" y="3611880"/>
            <a:ext cx="2560320" cy="1143000"/>
          </a:xfrm>
          <a:prstGeom prst="roundRect">
            <a:avLst/>
          </a:prstGeom>
          <a:solidFill>
            <a:srgbClr val="EAF5F2"/>
          </a:solidFill>
          <a:ln w="12700">
            <a:solidFill>
              <a:srgbClr val="EAF5F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Hacer si hay capacidad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65592" y="3611880"/>
            <a:ext cx="2560320" cy="1143000"/>
          </a:xfrm>
          <a:prstGeom prst="roundRect">
            <a:avLst/>
          </a:prstGeom>
          <a:solidFill>
            <a:srgbClr val="EDEFF1"/>
          </a:solidFill>
          <a:ln w="12700">
            <a:solidFill>
              <a:srgbClr val="EDEFF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161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5440680"/>
            <a:ext cx="5989320" cy="530352"/>
          </a:xfrm>
          <a:prstGeom prst="roundRect">
            <a:avLst/>
          </a:prstGeom>
          <a:solidFill>
            <a:srgbClr val="0E1B24"/>
          </a:solidFill>
          <a:ln>
            <a:solidFill>
              <a:srgbClr val="0E1B2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Decisión recomendada: experimento pequeño, medible y revisable antes de comprometer varios Sprints completos.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5216" y="649224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5828A"/>
                </a:solidFill>
              </a:rPr>
              <a:t>Propuesta de adopción Scrum para equipo de producto digital  ·  7/8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B6A6"/>
          </a:solidFill>
          <a:ln w="12700">
            <a:solidFill>
              <a:srgbClr val="1FB6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6B3A"/>
          </a:solidFill>
          <a:ln w="12700">
            <a:solidFill>
              <a:srgbClr val="F26B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411480"/>
            <a:ext cx="100126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233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No basta con estar conectados: necesitamos transparencia y confianza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3504" y="950976"/>
            <a:ext cx="89611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B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herramientas ayudan, pero la colaboración nace de acuerdos, eventos útiles y aprendizaje continuo.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1FB6A6"/>
          </a:solidFill>
          <a:ln w="12700">
            <a:solidFill>
              <a:srgbClr val="1FB6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62331"/>
                </a:solidFill>
              </a:rPr>
              <a:t>Herramientas digitales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1005840" y="203911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2331"/>
                </a:solidFill>
              </a:rPr>
              <a:t>Mensajería · tablero visual · documentación ligera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987552" y="2532888"/>
            <a:ext cx="4700016" cy="640080"/>
          </a:xfrm>
          <a:prstGeom prst="roundRect">
            <a:avLst>
              <a:gd name="adj" fmla="val 11429"/>
            </a:avLst>
          </a:prstGeom>
          <a:solidFill>
            <a:srgbClr val="F5B84B"/>
          </a:solidFill>
          <a:ln w="12700">
            <a:solidFill>
              <a:srgbClr val="F5B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624328"/>
            <a:ext cx="4334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62331"/>
                </a:solidFill>
              </a:rPr>
              <a:t>Eventos Scrum útiles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1170432" y="2880360"/>
            <a:ext cx="4334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2331"/>
                </a:solidFill>
              </a:rPr>
              <a:t>Daily Scrum · Refinement · Review · Retrospective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1152144" y="3374136"/>
            <a:ext cx="4370832" cy="640080"/>
          </a:xfrm>
          <a:prstGeom prst="roundRect">
            <a:avLst>
              <a:gd name="adj" fmla="val 11429"/>
            </a:avLst>
          </a:prstGeom>
          <a:solidFill>
            <a:srgbClr val="F26B3A"/>
          </a:solidFill>
          <a:ln w="12700">
            <a:solidFill>
              <a:srgbClr val="F26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35024" y="3465576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62331"/>
                </a:solidFill>
              </a:rPr>
              <a:t>Acuerdos de trabajo remoto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1335024" y="3721608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2331"/>
                </a:solidFill>
              </a:rPr>
              <a:t>Canales claros · tiempos de respuesta · normas síncronas/asíncronas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1316736" y="4215384"/>
            <a:ext cx="4041648" cy="640080"/>
          </a:xfrm>
          <a:prstGeom prst="roundRect">
            <a:avLst>
              <a:gd name="adj" fmla="val 11429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99616" y="4306824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Confianza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1499616" y="4562856"/>
            <a:ext cx="3675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Transparencia · feedback · aprendizaje continuo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6629400" y="1627632"/>
            <a:ext cx="4681728" cy="960120"/>
          </a:xfrm>
          <a:prstGeom prst="roundRect">
            <a:avLst/>
          </a:prstGeom>
          <a:solidFill>
            <a:srgbClr val="EAF5F2"/>
          </a:solidFill>
          <a:ln w="12700">
            <a:solidFill>
              <a:srgbClr val="9EE6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colaboración remota no se resuelve solo con Slack, Trello o Jira. Se diseña mediante acuerdos claros, cadencias compartidas y espacios reales de inspección y adaptación.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2926080"/>
            <a:ext cx="4681728" cy="1124712"/>
          </a:xfrm>
          <a:prstGeom prst="roundRect">
            <a:avLst/>
          </a:prstGeom>
          <a:solidFill>
            <a:srgbClr val="0E1B24"/>
          </a:solidFill>
          <a:ln w="12700">
            <a:solidFill>
              <a:srgbClr val="0E1B2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queremos que el equipo simplemente “haga Scrum”; queremos que Scrum ayude al equipo a crear mejor producto, con más foco, más calidad y más capacidad de adaptación.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67728" y="4663440"/>
            <a:ext cx="932688" cy="932688"/>
          </a:xfrm>
          <a:prstGeom prst="ellipse">
            <a:avLst/>
          </a:prstGeom>
          <a:solidFill>
            <a:srgbClr val="F26B3A"/>
          </a:solidFill>
          <a:ln w="15240">
            <a:solidFill>
              <a:srgbClr val="F7F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39328" y="4663440"/>
            <a:ext cx="932688" cy="932688"/>
          </a:xfrm>
          <a:prstGeom prst="ellipse">
            <a:avLst/>
          </a:prstGeom>
          <a:solidFill>
            <a:srgbClr val="36B37E"/>
          </a:solidFill>
          <a:ln w="15240">
            <a:solidFill>
              <a:srgbClr val="F7F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23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Calidad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710928" y="4663440"/>
            <a:ext cx="932688" cy="932688"/>
          </a:xfrm>
          <a:prstGeom prst="ellipse">
            <a:avLst/>
          </a:prstGeom>
          <a:solidFill>
            <a:srgbClr val="7B61FF"/>
          </a:solidFill>
          <a:ln w="15240">
            <a:solidFill>
              <a:srgbClr val="F7F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Adaptación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00416" y="5129784"/>
            <a:ext cx="438912" cy="0"/>
          </a:xfrm>
          <a:prstGeom prst="line">
            <a:avLst/>
          </a:prstGeom>
          <a:noFill/>
          <a:ln w="22860">
            <a:solidFill>
              <a:srgbClr val="CAD4D7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272016" y="5129784"/>
            <a:ext cx="438912" cy="0"/>
          </a:xfrm>
          <a:prstGeom prst="line">
            <a:avLst/>
          </a:prstGeom>
          <a:noFill/>
          <a:ln w="22860">
            <a:solidFill>
              <a:srgbClr val="CAD4D7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85216" y="649224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5828A"/>
                </a:solidFill>
              </a:rPr>
              <a:t>Propuesta de adopción Scrum para equipo de producto digital  ·  8/8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Introducir Scrum en una startup tecnológica</dc:title>
  <dc:subject>Propuesta de adopción Scrum</dc:subject>
  <dc:creator>Lexor</dc:creator>
  <cp:lastModifiedBy>Lexor</cp:lastModifiedBy>
  <cp:revision>1</cp:revision>
  <dcterms:created xsi:type="dcterms:W3CDTF">2026-06-29T03:12:11Z</dcterms:created>
  <dcterms:modified xsi:type="dcterms:W3CDTF">2026-06-29T03:12:11Z</dcterms:modified>
</cp:coreProperties>
</file>